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4FE2C4-4757-4AA8-ABA5-B4DA613F527F}" v="1" dt="2026-03-28T09:08:26.2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sorterViewPr>
    <p:cViewPr varScale="1">
      <p:scale>
        <a:sx n="100" d="100"/>
        <a:sy n="100" d="100"/>
      </p:scale>
      <p:origin x="0" y="-62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B4BFE-42CD-8C12-8970-392AAA6B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DE15E404-EE70-ADF7-3DF1-7CF520ECF5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65E05218-773B-C728-973D-342481586C3E}"/>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5" name="Footer Placeholder 4">
            <a:extLst>
              <a:ext uri="{FF2B5EF4-FFF2-40B4-BE49-F238E27FC236}">
                <a16:creationId xmlns:a16="http://schemas.microsoft.com/office/drawing/2014/main" id="{61CAC674-951D-32D5-5D70-1AF9CCEF99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B68D27-24F3-A582-A1CF-91CBD35B9EDE}"/>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2542745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F8130-1D7A-26EC-2134-FFE30C71A628}"/>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E9642DBE-458F-0D2E-2FF6-6D96B9585B9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C82678C-3DEA-A30F-B0AD-A264C8405823}"/>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5" name="Footer Placeholder 4">
            <a:extLst>
              <a:ext uri="{FF2B5EF4-FFF2-40B4-BE49-F238E27FC236}">
                <a16:creationId xmlns:a16="http://schemas.microsoft.com/office/drawing/2014/main" id="{03102202-2511-72EE-8B70-5932ACF316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8C6C69-7892-49DE-82B2-AA8CF31FD2B6}"/>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1389331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8160E-984A-CB01-1F3A-88BC9F697D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670B1070-8C75-5431-EF5E-3B715B1CCF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ACB07B7-BE15-61D4-FC49-679BC6E06969}"/>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5" name="Footer Placeholder 4">
            <a:extLst>
              <a:ext uri="{FF2B5EF4-FFF2-40B4-BE49-F238E27FC236}">
                <a16:creationId xmlns:a16="http://schemas.microsoft.com/office/drawing/2014/main" id="{04B80D07-4A95-1032-9D97-46D419B6AD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400C23-AEA4-D25B-C9D0-C01C92279757}"/>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60231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CE84-6F25-13C3-0804-E4DFEE4BBC09}"/>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EAD390FD-BC93-D354-E23C-8FA16F05E07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07710FA5-3F27-054D-0FAC-3472A7484DC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DD120C4F-86FA-401F-FAF9-B57C87828AE1}"/>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6" name="Footer Placeholder 5">
            <a:extLst>
              <a:ext uri="{FF2B5EF4-FFF2-40B4-BE49-F238E27FC236}">
                <a16:creationId xmlns:a16="http://schemas.microsoft.com/office/drawing/2014/main" id="{2D380FC0-212D-1E56-7F41-F189DFD043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B91CF0-3A00-61FD-F731-AFABDFEBDB29}"/>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143078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DB15-DF9A-364D-0AB7-E11276150FB6}"/>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26FFAE7F-3C4F-67B6-C847-CD6E144C32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BF3ECB2-FC0B-D6E3-D801-474D36804F3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52C6CA96-0DE7-07DF-5EF4-098A713741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9D1DA68-C7C0-BDED-6CF8-E9DC81219D0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90B2344C-F7FA-841E-A0C9-368514A915AD}"/>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8" name="Footer Placeholder 7">
            <a:extLst>
              <a:ext uri="{FF2B5EF4-FFF2-40B4-BE49-F238E27FC236}">
                <a16:creationId xmlns:a16="http://schemas.microsoft.com/office/drawing/2014/main" id="{D7C18B7B-C897-094E-24A2-FD83CA8E568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27D7C79-AD84-E65D-74C8-2691DCE947E5}"/>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122738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48641-76F5-70A2-095B-8B6DC8A2D7E2}"/>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05C1FE59-9A3F-8B2E-42E0-5700DC82C733}"/>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4" name="Footer Placeholder 3">
            <a:extLst>
              <a:ext uri="{FF2B5EF4-FFF2-40B4-BE49-F238E27FC236}">
                <a16:creationId xmlns:a16="http://schemas.microsoft.com/office/drawing/2014/main" id="{7EF4283B-6212-8893-8730-A08A9DF5A1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1E7841-4E4A-213B-09A2-AD9E00919E96}"/>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348588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69AD0C-230E-A615-9A22-F70399CDE1C3}"/>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3" name="Footer Placeholder 2">
            <a:extLst>
              <a:ext uri="{FF2B5EF4-FFF2-40B4-BE49-F238E27FC236}">
                <a16:creationId xmlns:a16="http://schemas.microsoft.com/office/drawing/2014/main" id="{8A3AA73A-F045-F3C4-5908-20ACC9926B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55E175-C88C-6A94-4125-23525608DDCC}"/>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757650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BB76-5D15-F051-B3BC-138EFBB238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97082DFE-DB23-1C5D-BA2F-61DE1F78FA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737304C8-51CE-51F9-D16D-ABDC598775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BD268F-B5A9-7745-53D9-A6B0B75BAC2C}"/>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6" name="Footer Placeholder 5">
            <a:extLst>
              <a:ext uri="{FF2B5EF4-FFF2-40B4-BE49-F238E27FC236}">
                <a16:creationId xmlns:a16="http://schemas.microsoft.com/office/drawing/2014/main" id="{43A29EC9-F6FA-3E99-17EC-11165C47B3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274F65-53D1-78E2-CCAE-012961543D33}"/>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3594502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5BA06-3D68-5BE6-47C8-F1F0F334CD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F004FBC7-A371-575A-FDCD-2E59FEB482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66B38D-D2DA-5FAC-CCA5-1C941E189D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D44A19-01F0-2306-9FAA-42B551E5C33A}"/>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6" name="Footer Placeholder 5">
            <a:extLst>
              <a:ext uri="{FF2B5EF4-FFF2-40B4-BE49-F238E27FC236}">
                <a16:creationId xmlns:a16="http://schemas.microsoft.com/office/drawing/2014/main" id="{872BB086-0CE4-23BB-68D0-3A069CDB07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A5A3F5-E348-0FAB-278C-7F7E422AAFA3}"/>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1655046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2C4CF-7D04-23CD-0BED-D202233A34F1}"/>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730A0E3B-60A4-6545-5AFF-6C72A1AEE92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F29FD3E-F054-B117-61C1-3B3BDFE7C423}"/>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5" name="Footer Placeholder 4">
            <a:extLst>
              <a:ext uri="{FF2B5EF4-FFF2-40B4-BE49-F238E27FC236}">
                <a16:creationId xmlns:a16="http://schemas.microsoft.com/office/drawing/2014/main" id="{BB36B5D7-D951-1EDD-9545-1CEFD995BB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E0DD52-835A-A75F-BDB5-4417E9597625}"/>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3869629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0BE9ED-D3CE-1A3B-3F21-FAD3977E181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91A4B3D1-D943-4DCF-9D9C-885DD995B28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C664928-C266-3300-980F-801DE8D163B1}"/>
              </a:ext>
            </a:extLst>
          </p:cNvPr>
          <p:cNvSpPr>
            <a:spLocks noGrp="1"/>
          </p:cNvSpPr>
          <p:nvPr>
            <p:ph type="dt" sz="half" idx="10"/>
          </p:nvPr>
        </p:nvSpPr>
        <p:spPr/>
        <p:txBody>
          <a:bodyPr/>
          <a:lstStyle/>
          <a:p>
            <a:fld id="{DBDC5C28-75C0-4A6C-9D62-DC1A2C179961}" type="datetimeFigureOut">
              <a:rPr lang="en-IN" smtClean="0"/>
              <a:t>18-06-2026</a:t>
            </a:fld>
            <a:endParaRPr lang="en-IN"/>
          </a:p>
        </p:txBody>
      </p:sp>
      <p:sp>
        <p:nvSpPr>
          <p:cNvPr id="5" name="Footer Placeholder 4">
            <a:extLst>
              <a:ext uri="{FF2B5EF4-FFF2-40B4-BE49-F238E27FC236}">
                <a16:creationId xmlns:a16="http://schemas.microsoft.com/office/drawing/2014/main" id="{A9E78F1B-0951-3615-A913-81F48C70E7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4A5BAE-4C68-EB50-B9D4-C2D23F53F6C6}"/>
              </a:ext>
            </a:extLst>
          </p:cNvPr>
          <p:cNvSpPr>
            <a:spLocks noGrp="1"/>
          </p:cNvSpPr>
          <p:nvPr>
            <p:ph type="sldNum" sz="quarter" idx="12"/>
          </p:nvPr>
        </p:nvSpPr>
        <p:spPr/>
        <p:txBody>
          <a:bodyPr/>
          <a:lstStyle/>
          <a:p>
            <a:fld id="{249C0BC1-EF2D-44EE-A87D-FD370CBE38C2}" type="slidenum">
              <a:rPr lang="en-IN" smtClean="0"/>
              <a:t>‹#›</a:t>
            </a:fld>
            <a:endParaRPr lang="en-IN"/>
          </a:p>
        </p:txBody>
      </p:sp>
    </p:spTree>
    <p:extLst>
      <p:ext uri="{BB962C8B-B14F-4D97-AF65-F5344CB8AC3E}">
        <p14:creationId xmlns:p14="http://schemas.microsoft.com/office/powerpoint/2010/main" val="3136015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59F3A-6C5B-E34C-8B77-111D906438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BC8B1F6B-462E-9E3D-B8A3-E5209C20B0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0A4B9F0-3EEB-CF5C-037E-2A3D916EDD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DC5C28-75C0-4A6C-9D62-DC1A2C179961}" type="datetimeFigureOut">
              <a:rPr lang="en-IN" smtClean="0"/>
              <a:t>18-06-2026</a:t>
            </a:fld>
            <a:endParaRPr lang="en-IN"/>
          </a:p>
        </p:txBody>
      </p:sp>
      <p:sp>
        <p:nvSpPr>
          <p:cNvPr id="5" name="Footer Placeholder 4">
            <a:extLst>
              <a:ext uri="{FF2B5EF4-FFF2-40B4-BE49-F238E27FC236}">
                <a16:creationId xmlns:a16="http://schemas.microsoft.com/office/drawing/2014/main" id="{E28BCF96-EA62-13ED-FCC4-2B16549AA9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42B53C0-6DE0-7D61-F0FB-5FC6AD6FEF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9C0BC1-EF2D-44EE-A87D-FD370CBE38C2}" type="slidenum">
              <a:rPr lang="en-IN" smtClean="0"/>
              <a:t>‹#›</a:t>
            </a:fld>
            <a:endParaRPr lang="en-IN"/>
          </a:p>
        </p:txBody>
      </p:sp>
    </p:spTree>
    <p:extLst>
      <p:ext uri="{BB962C8B-B14F-4D97-AF65-F5344CB8AC3E}">
        <p14:creationId xmlns:p14="http://schemas.microsoft.com/office/powerpoint/2010/main" val="3586859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DA93-2D18-D69D-87DC-170231A6E4AE}"/>
              </a:ext>
            </a:extLst>
          </p:cNvPr>
          <p:cNvSpPr>
            <a:spLocks noGrp="1"/>
          </p:cNvSpPr>
          <p:nvPr>
            <p:ph type="title"/>
          </p:nvPr>
        </p:nvSpPr>
        <p:spPr>
          <a:xfrm>
            <a:off x="838200" y="961769"/>
            <a:ext cx="10515600" cy="4934462"/>
          </a:xfrm>
        </p:spPr>
        <p:txBody>
          <a:bodyPr/>
          <a:lstStyle/>
          <a:p>
            <a:pPr algn="ctr"/>
            <a:r>
              <a:rPr lang="en-US" b="1" dirty="0">
                <a:latin typeface="Times New Roman" panose="02020603050405020304" pitchFamily="18" charset="0"/>
                <a:cs typeface="Times New Roman" panose="02020603050405020304" pitchFamily="18" charset="0"/>
              </a:rPr>
              <a:t>ONLINE MULTIPLE PAYMENT SYSTEM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414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4FAA-8841-1278-F4FF-B5A974FDAC7D}"/>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FF9746-A171-E4E9-BF87-1CF751B12FDE}"/>
              </a:ext>
            </a:extLst>
          </p:cNvPr>
          <p:cNvSpPr>
            <a:spLocks noGrp="1"/>
          </p:cNvSpPr>
          <p:nvPr>
            <p:ph idx="1"/>
          </p:nvPr>
        </p:nvSpPr>
        <p:spPr>
          <a:xfrm>
            <a:off x="838200" y="1550322"/>
            <a:ext cx="10515600" cy="4351338"/>
          </a:xfrm>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In today’s fast-growing digital world, there is a strong need for payment systems that are fast, secure, and flexible. The </a:t>
            </a:r>
            <a:r>
              <a:rPr lang="en-US" b="1" dirty="0">
                <a:latin typeface="Times New Roman" panose="02020603050405020304" pitchFamily="18" charset="0"/>
                <a:cs typeface="Times New Roman" panose="02020603050405020304" pitchFamily="18" charset="0"/>
              </a:rPr>
              <a:t>Online Multiple Payment System (OMPS)</a:t>
            </a:r>
            <a:r>
              <a:rPr lang="en-US" dirty="0">
                <a:latin typeface="Times New Roman" panose="02020603050405020304" pitchFamily="18" charset="0"/>
                <a:cs typeface="Times New Roman" panose="02020603050405020304" pitchFamily="18" charset="0"/>
              </a:rPr>
              <a:t> is designed to meet this need by providing a single platform that supports different payment methods such as credit cards, debit cards, mobile wallets, net banking, and cryptocurrency.</a:t>
            </a:r>
          </a:p>
          <a:p>
            <a:pPr algn="just"/>
            <a:r>
              <a:rPr lang="en-US" dirty="0">
                <a:latin typeface="Times New Roman" panose="02020603050405020304" pitchFamily="18" charset="0"/>
                <a:cs typeface="Times New Roman" panose="02020603050405020304" pitchFamily="18" charset="0"/>
              </a:rPr>
              <a:t>This system improves the user experience by enabling smooth and quick transactions with strong security features. It uses advanced technologies like encryption, multi-factor authentication, and fraud detection to keep user data safe and prevent unauthorized access.</a:t>
            </a:r>
          </a:p>
          <a:p>
            <a:pPr algn="just"/>
            <a:r>
              <a:rPr lang="en-US" dirty="0">
                <a:latin typeface="Times New Roman" panose="02020603050405020304" pitchFamily="18" charset="0"/>
                <a:cs typeface="Times New Roman" panose="02020603050405020304" pitchFamily="18" charset="0"/>
              </a:rPr>
              <a:t>OMPS can be easily integrated with e-commerce websites, business platforms, and banking systems. It is also flexible enough to support different types of businesses such as online shopping, subscription services, and peer-to-peer payments. Additionally, it allows international transactions with currency conversion and follows global financial rules.</a:t>
            </a:r>
          </a:p>
          <a:p>
            <a:pPr algn="just"/>
            <a:r>
              <a:rPr lang="en-US" dirty="0">
                <a:latin typeface="Times New Roman" panose="02020603050405020304" pitchFamily="18" charset="0"/>
                <a:cs typeface="Times New Roman" panose="02020603050405020304" pitchFamily="18" charset="0"/>
              </a:rPr>
              <a:t>Overall, the system helps in reducing transaction time and cost while increasing customer satisfaction. OMPS provides a future-ready solution that can adapt to new payment technologies and trends, making online payments more efficient and reliable.</a:t>
            </a:r>
          </a:p>
          <a:p>
            <a:endParaRPr lang="en-IN" dirty="0"/>
          </a:p>
        </p:txBody>
      </p:sp>
    </p:spTree>
    <p:extLst>
      <p:ext uri="{BB962C8B-B14F-4D97-AF65-F5344CB8AC3E}">
        <p14:creationId xmlns:p14="http://schemas.microsoft.com/office/powerpoint/2010/main" val="1065335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858D-6D12-4F5F-ED33-EC02E78370E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DAFBDE-8F20-72EF-8B52-644A72CF6627}"/>
              </a:ext>
            </a:extLst>
          </p:cNvPr>
          <p:cNvSpPr>
            <a:spLocks noGrp="1"/>
          </p:cNvSpPr>
          <p:nvPr>
            <p:ph idx="1"/>
          </p:nvPr>
        </p:nvSpPr>
        <p:spPr>
          <a:xfrm>
            <a:off x="838200" y="1560154"/>
            <a:ext cx="10515600" cy="4351338"/>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Online Multiple Payment System (OMPS)</a:t>
            </a:r>
            <a:r>
              <a:rPr lang="en-US" dirty="0">
                <a:latin typeface="Times New Roman" panose="02020603050405020304" pitchFamily="18" charset="0"/>
                <a:cs typeface="Times New Roman" panose="02020603050405020304" pitchFamily="18" charset="0"/>
              </a:rPr>
              <a:t> is an advanced digital platform designed to make online payments easy, secure, and flexible. In today’s world, where online shopping and digital services are increasing rapidly, people use different payment methods like credit cards, debit cards, mobile wallets, net banking, and even cryptocurrency. Managing all these separately can be difficult, so OMPS brings all these payment options into one single platform.</a:t>
            </a:r>
          </a:p>
          <a:p>
            <a:pPr algn="just"/>
            <a:r>
              <a:rPr lang="en-US" dirty="0">
                <a:latin typeface="Times New Roman" panose="02020603050405020304" pitchFamily="18" charset="0"/>
                <a:cs typeface="Times New Roman" panose="02020603050405020304" pitchFamily="18" charset="0"/>
              </a:rPr>
              <a:t>The main advantage of OMPS is convenience. Users can choose their preferred payment method and complete transactions quickly without switching between different systems. For businesses, it helps reduce transaction time, lower processing costs, and improve customer satisfaction by offering multiple payment choices.</a:t>
            </a:r>
          </a:p>
          <a:p>
            <a:pPr algn="just"/>
            <a:r>
              <a:rPr lang="en-US" dirty="0">
                <a:latin typeface="Times New Roman" panose="02020603050405020304" pitchFamily="18" charset="0"/>
                <a:cs typeface="Times New Roman" panose="02020603050405020304" pitchFamily="18" charset="0"/>
              </a:rPr>
              <a:t>Security is a major focus of OMPS. The system uses advanced technologies like encryption, multi-factor authentication, and real-time fraud detection to protect user data and ensure safe transactions. This builds trust among users and businesses.</a:t>
            </a:r>
          </a:p>
          <a:p>
            <a:pPr algn="just"/>
            <a:r>
              <a:rPr lang="en-US" dirty="0">
                <a:latin typeface="Times New Roman" panose="02020603050405020304" pitchFamily="18" charset="0"/>
                <a:cs typeface="Times New Roman" panose="02020603050405020304" pitchFamily="18" charset="0"/>
              </a:rPr>
              <a:t>Another important feature is scalability and flexibility. OMPS can be easily integrated with e-commerce websites, point-of-sale systems, and banking platforms. It also supports international payments with currency conversion and follows global financial regulations.</a:t>
            </a:r>
          </a:p>
          <a:p>
            <a:pPr algn="just"/>
            <a:r>
              <a:rPr lang="en-US" dirty="0">
                <a:latin typeface="Times New Roman" panose="02020603050405020304" pitchFamily="18" charset="0"/>
                <a:cs typeface="Times New Roman" panose="02020603050405020304" pitchFamily="18" charset="0"/>
              </a:rPr>
              <a:t>Overall, OMPS is a future-ready solution that simplifies payment processes, enhances security, and improves the overall user experience, making it highly useful in today’s digital economy.</a:t>
            </a:r>
          </a:p>
          <a:p>
            <a:endParaRPr lang="en-IN" dirty="0"/>
          </a:p>
        </p:txBody>
      </p:sp>
    </p:spTree>
    <p:extLst>
      <p:ext uri="{BB962C8B-B14F-4D97-AF65-F5344CB8AC3E}">
        <p14:creationId xmlns:p14="http://schemas.microsoft.com/office/powerpoint/2010/main" val="2987849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F31EC-EB76-C6DD-E68D-C28ECBD046C6}"/>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EXISTING SYSTEM</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2B94E0-B46B-D67A-89B6-C11D3F9DFE05}"/>
              </a:ext>
            </a:extLst>
          </p:cNvPr>
          <p:cNvSpPr>
            <a:spLocks noGrp="1"/>
          </p:cNvSpPr>
          <p:nvPr>
            <p:ph idx="1"/>
          </p:nvPr>
        </p:nvSpPr>
        <p:spPr>
          <a:xfrm>
            <a:off x="838200" y="1690688"/>
            <a:ext cx="10515600" cy="4351338"/>
          </a:xfrm>
        </p:spPr>
        <p:txBody>
          <a:bodyPr>
            <a:normAutofit fontScale="77500" lnSpcReduction="20000"/>
          </a:bodyPr>
          <a:lstStyle/>
          <a:p>
            <a:pPr algn="just"/>
            <a:r>
              <a:rPr lang="en-US" b="1" dirty="0">
                <a:latin typeface="Times New Roman" panose="02020603050405020304" pitchFamily="18" charset="0"/>
                <a:cs typeface="Times New Roman" panose="02020603050405020304" pitchFamily="18" charset="0"/>
              </a:rPr>
              <a:t>Advantages</a:t>
            </a:r>
          </a:p>
          <a:p>
            <a:pPr algn="just"/>
            <a:r>
              <a:rPr lang="en-US" dirty="0">
                <a:latin typeface="Times New Roman" panose="02020603050405020304" pitchFamily="18" charset="0"/>
                <a:cs typeface="Times New Roman" panose="02020603050405020304" pitchFamily="18" charset="0"/>
              </a:rPr>
              <a:t>Established and reliable infrastructure </a:t>
            </a:r>
          </a:p>
          <a:p>
            <a:pPr algn="just"/>
            <a:r>
              <a:rPr lang="en-US" dirty="0">
                <a:latin typeface="Times New Roman" panose="02020603050405020304" pitchFamily="18" charset="0"/>
                <a:cs typeface="Times New Roman" panose="02020603050405020304" pitchFamily="18" charset="0"/>
              </a:rPr>
              <a:t>Users are familiar with payment methods (cards, net banking, wallets) </a:t>
            </a:r>
          </a:p>
          <a:p>
            <a:pPr algn="just"/>
            <a:r>
              <a:rPr lang="en-US" dirty="0">
                <a:latin typeface="Times New Roman" panose="02020603050405020304" pitchFamily="18" charset="0"/>
                <a:cs typeface="Times New Roman" panose="02020603050405020304" pitchFamily="18" charset="0"/>
              </a:rPr>
              <a:t>Strong security measures (encryption, fraud detection) </a:t>
            </a:r>
          </a:p>
          <a:p>
            <a:pPr algn="just"/>
            <a:r>
              <a:rPr lang="en-US" dirty="0">
                <a:latin typeface="Times New Roman" panose="02020603050405020304" pitchFamily="18" charset="0"/>
                <a:cs typeface="Times New Roman" panose="02020603050405020304" pitchFamily="18" charset="0"/>
              </a:rPr>
              <a:t>Widely accepted by merchants worldwide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Disadvantages</a:t>
            </a:r>
          </a:p>
          <a:p>
            <a:pPr algn="just"/>
            <a:r>
              <a:rPr lang="en-US" dirty="0">
                <a:latin typeface="Times New Roman" panose="02020603050405020304" pitchFamily="18" charset="0"/>
                <a:cs typeface="Times New Roman" panose="02020603050405020304" pitchFamily="18" charset="0"/>
              </a:rPr>
              <a:t>Limited support for new payment methods (e.g., cryptocurrency) </a:t>
            </a:r>
          </a:p>
          <a:p>
            <a:pPr algn="just"/>
            <a:r>
              <a:rPr lang="en-US" dirty="0">
                <a:latin typeface="Times New Roman" panose="02020603050405020304" pitchFamily="18" charset="0"/>
                <a:cs typeface="Times New Roman" panose="02020603050405020304" pitchFamily="18" charset="0"/>
              </a:rPr>
              <a:t>High transaction fees, especially for international payments </a:t>
            </a:r>
          </a:p>
          <a:p>
            <a:pPr algn="just"/>
            <a:r>
              <a:rPr lang="en-US" dirty="0">
                <a:latin typeface="Times New Roman" panose="02020603050405020304" pitchFamily="18" charset="0"/>
                <a:cs typeface="Times New Roman" panose="02020603050405020304" pitchFamily="18" charset="0"/>
              </a:rPr>
              <a:t>Slow processing time (e.g., bank transfers) </a:t>
            </a:r>
          </a:p>
          <a:p>
            <a:pPr algn="just"/>
            <a:r>
              <a:rPr lang="en-US" dirty="0">
                <a:latin typeface="Times New Roman" panose="02020603050405020304" pitchFamily="18" charset="0"/>
                <a:cs typeface="Times New Roman" panose="02020603050405020304" pitchFamily="18" charset="0"/>
              </a:rPr>
              <a:t>Risk of fraud, hacking, and data breaches </a:t>
            </a:r>
          </a:p>
          <a:p>
            <a:pPr algn="just"/>
            <a:r>
              <a:rPr lang="en-US" dirty="0">
                <a:latin typeface="Times New Roman" panose="02020603050405020304" pitchFamily="18" charset="0"/>
                <a:cs typeface="Times New Roman" panose="02020603050405020304" pitchFamily="18" charset="0"/>
              </a:rPr>
              <a:t>Lack of integration; multiple systems needed for different payments</a:t>
            </a:r>
          </a:p>
          <a:p>
            <a:endParaRPr lang="en-IN" dirty="0"/>
          </a:p>
        </p:txBody>
      </p:sp>
    </p:spTree>
    <p:extLst>
      <p:ext uri="{BB962C8B-B14F-4D97-AF65-F5344CB8AC3E}">
        <p14:creationId xmlns:p14="http://schemas.microsoft.com/office/powerpoint/2010/main" val="22227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9992-E241-0FC4-2CA1-E7BE112A2770}"/>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PROPOSED SYSTEM</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6CA436-F9C4-120F-C01F-102BECA9E290}"/>
              </a:ext>
            </a:extLst>
          </p:cNvPr>
          <p:cNvSpPr>
            <a:spLocks noGrp="1"/>
          </p:cNvSpPr>
          <p:nvPr>
            <p:ph idx="1"/>
          </p:nvPr>
        </p:nvSpPr>
        <p:spPr>
          <a:xfrm>
            <a:off x="838200" y="1501160"/>
            <a:ext cx="10515600" cy="4351338"/>
          </a:xfrm>
        </p:spPr>
        <p:txBody>
          <a:bodyPr>
            <a:normAutofit fontScale="55000" lnSpcReduction="20000"/>
          </a:bodyPr>
          <a:lstStyle/>
          <a:p>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Supports multiple payment methods (cards, wallets, net banking, cryptocurrency) </a:t>
            </a:r>
          </a:p>
          <a:p>
            <a:r>
              <a:rPr lang="en-US" dirty="0">
                <a:latin typeface="Times New Roman" panose="02020603050405020304" pitchFamily="18" charset="0"/>
                <a:cs typeface="Times New Roman" panose="02020603050405020304" pitchFamily="18" charset="0"/>
              </a:rPr>
              <a:t>High security with encryption, MFA, and fraud detection </a:t>
            </a:r>
          </a:p>
          <a:p>
            <a:r>
              <a:rPr lang="en-US" dirty="0">
                <a:latin typeface="Times New Roman" panose="02020603050405020304" pitchFamily="18" charset="0"/>
                <a:cs typeface="Times New Roman" panose="02020603050405020304" pitchFamily="18" charset="0"/>
              </a:rPr>
              <a:t>Lower transaction costs, especially for international payments </a:t>
            </a:r>
          </a:p>
          <a:p>
            <a:r>
              <a:rPr lang="en-US" dirty="0">
                <a:latin typeface="Times New Roman" panose="02020603050405020304" pitchFamily="18" charset="0"/>
                <a:cs typeface="Times New Roman" panose="02020603050405020304" pitchFamily="18" charset="0"/>
              </a:rPr>
              <a:t>Faster real-time payment processing </a:t>
            </a:r>
          </a:p>
          <a:p>
            <a:r>
              <a:rPr lang="en-US" dirty="0">
                <a:latin typeface="Times New Roman" panose="02020603050405020304" pitchFamily="18" charset="0"/>
                <a:cs typeface="Times New Roman" panose="02020603050405020304" pitchFamily="18" charset="0"/>
              </a:rPr>
              <a:t>Scalable and easy integration with existing systems </a:t>
            </a:r>
          </a:p>
          <a:p>
            <a:r>
              <a:rPr lang="en-US" dirty="0">
                <a:latin typeface="Times New Roman" panose="02020603050405020304" pitchFamily="18" charset="0"/>
                <a:cs typeface="Times New Roman" panose="02020603050405020304" pitchFamily="18" charset="0"/>
              </a:rPr>
              <a:t>Supports global transactions with currency conversion </a:t>
            </a:r>
          </a:p>
          <a:p>
            <a:r>
              <a:rPr lang="en-US" dirty="0">
                <a:latin typeface="Times New Roman" panose="02020603050405020304" pitchFamily="18" charset="0"/>
                <a:cs typeface="Times New Roman" panose="02020603050405020304" pitchFamily="18" charset="0"/>
              </a:rPr>
              <a:t>Future-ready and adaptable to new technologies </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Disadvantages</a:t>
            </a:r>
          </a:p>
          <a:p>
            <a:r>
              <a:rPr lang="en-US" dirty="0">
                <a:latin typeface="Times New Roman" panose="02020603050405020304" pitchFamily="18" charset="0"/>
                <a:cs typeface="Times New Roman" panose="02020603050405020304" pitchFamily="18" charset="0"/>
              </a:rPr>
              <a:t>Complex implementation and high initial setup cost </a:t>
            </a:r>
          </a:p>
          <a:p>
            <a:r>
              <a:rPr lang="en-US" dirty="0">
                <a:latin typeface="Times New Roman" panose="02020603050405020304" pitchFamily="18" charset="0"/>
                <a:cs typeface="Times New Roman" panose="02020603050405020304" pitchFamily="18" charset="0"/>
              </a:rPr>
              <a:t>Technical challenges in maintaining security and performance </a:t>
            </a:r>
          </a:p>
          <a:p>
            <a:r>
              <a:rPr lang="en-US" dirty="0">
                <a:latin typeface="Times New Roman" panose="02020603050405020304" pitchFamily="18" charset="0"/>
                <a:cs typeface="Times New Roman" panose="02020603050405020304" pitchFamily="18" charset="0"/>
              </a:rPr>
              <a:t>Difficulty in meeting global regulatory requirements </a:t>
            </a:r>
          </a:p>
          <a:p>
            <a:r>
              <a:rPr lang="en-US" dirty="0">
                <a:latin typeface="Times New Roman" panose="02020603050405020304" pitchFamily="18" charset="0"/>
                <a:cs typeface="Times New Roman" panose="02020603050405020304" pitchFamily="18" charset="0"/>
              </a:rPr>
              <a:t>Users and businesses need time to adapt </a:t>
            </a:r>
          </a:p>
          <a:p>
            <a:r>
              <a:rPr lang="en-US" dirty="0">
                <a:latin typeface="Times New Roman" panose="02020603050405020304" pitchFamily="18" charset="0"/>
                <a:cs typeface="Times New Roman" panose="02020603050405020304" pitchFamily="18" charset="0"/>
              </a:rPr>
              <a:t>Ongoing maintenance and update costs</a:t>
            </a:r>
          </a:p>
          <a:p>
            <a:endParaRPr lang="en-IN" dirty="0"/>
          </a:p>
        </p:txBody>
      </p:sp>
    </p:spTree>
    <p:extLst>
      <p:ext uri="{BB962C8B-B14F-4D97-AF65-F5344CB8AC3E}">
        <p14:creationId xmlns:p14="http://schemas.microsoft.com/office/powerpoint/2010/main" val="3561334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39C5D-0DE2-56C7-9A73-E86ADA6F38F3}"/>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SYSTEM REQUIREMENTS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29A051-39AA-44BF-8DE3-DD0D354C8E83}"/>
              </a:ext>
            </a:extLst>
          </p:cNvPr>
          <p:cNvSpPr>
            <a:spLocks noGrp="1"/>
          </p:cNvSpPr>
          <p:nvPr>
            <p:ph idx="1"/>
          </p:nvPr>
        </p:nvSpPr>
        <p:spPr>
          <a:xfrm>
            <a:off x="838200" y="1622150"/>
            <a:ext cx="10515600" cy="4351338"/>
          </a:xfrm>
        </p:spPr>
        <p:txBody>
          <a:bodyPr>
            <a:normAutofit/>
          </a:bodyPr>
          <a:lstStyle/>
          <a:p>
            <a:r>
              <a:rPr lang="en-IN" b="1" dirty="0">
                <a:latin typeface="Times New Roman" panose="02020603050405020304" pitchFamily="18" charset="0"/>
                <a:cs typeface="Times New Roman" panose="02020603050405020304" pitchFamily="18" charset="0"/>
              </a:rPr>
              <a:t>HARDWARE REQUIREMENTS:</a:t>
            </a:r>
          </a:p>
          <a:p>
            <a:pPr algn="just"/>
            <a:r>
              <a:rPr lang="en-IN" dirty="0">
                <a:latin typeface="Times New Roman" panose="02020603050405020304" pitchFamily="18" charset="0"/>
                <a:cs typeface="Times New Roman" panose="02020603050405020304" pitchFamily="18" charset="0"/>
              </a:rPr>
              <a:t>System	         : Pentium IV 2.4 GHz.</a:t>
            </a:r>
          </a:p>
          <a:p>
            <a:pPr algn="just"/>
            <a:r>
              <a:rPr lang="en-IN" dirty="0">
                <a:latin typeface="Times New Roman" panose="02020603050405020304" pitchFamily="18" charset="0"/>
                <a:cs typeface="Times New Roman" panose="02020603050405020304" pitchFamily="18" charset="0"/>
              </a:rPr>
              <a:t>Hard Disk           : 40 GB.</a:t>
            </a:r>
          </a:p>
          <a:p>
            <a:pPr algn="just"/>
            <a:r>
              <a:rPr lang="en-IN" dirty="0">
                <a:latin typeface="Times New Roman" panose="02020603050405020304" pitchFamily="18" charset="0"/>
                <a:cs typeface="Times New Roman" panose="02020603050405020304" pitchFamily="18" charset="0"/>
              </a:rPr>
              <a:t>Ram		         : 512 Mb.</a:t>
            </a:r>
          </a:p>
          <a:p>
            <a:pPr marL="0" indent="0" algn="just">
              <a:buNone/>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SOFTWARE REQUIREMENTS:</a:t>
            </a:r>
          </a:p>
          <a:p>
            <a:pPr lvl="0" algn="just"/>
            <a:r>
              <a:rPr lang="en-IN" dirty="0">
                <a:latin typeface="Times New Roman" panose="02020603050405020304" pitchFamily="18" charset="0"/>
                <a:cs typeface="Times New Roman" panose="02020603050405020304" pitchFamily="18" charset="0"/>
              </a:rPr>
              <a:t>Operating system 	: Windows.</a:t>
            </a:r>
          </a:p>
          <a:p>
            <a:pPr lvl="0" algn="just"/>
            <a:r>
              <a:rPr lang="en-IN" dirty="0">
                <a:latin typeface="Times New Roman" panose="02020603050405020304" pitchFamily="18" charset="0"/>
                <a:cs typeface="Times New Roman" panose="02020603050405020304" pitchFamily="18" charset="0"/>
              </a:rPr>
              <a:t>Coding Language	:  python.</a:t>
            </a:r>
          </a:p>
          <a:p>
            <a:endParaRPr lang="en-IN" dirty="0"/>
          </a:p>
          <a:p>
            <a:endParaRPr lang="en-IN" dirty="0"/>
          </a:p>
        </p:txBody>
      </p:sp>
    </p:spTree>
    <p:extLst>
      <p:ext uri="{BB962C8B-B14F-4D97-AF65-F5344CB8AC3E}">
        <p14:creationId xmlns:p14="http://schemas.microsoft.com/office/powerpoint/2010/main" val="837146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47770-5353-0772-F4FF-E30F2E9A06BD}"/>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SYSTEM ARCHITECTURE</a:t>
            </a:r>
            <a:endParaRPr lang="en-IN" sz="4000" b="1" dirty="0">
              <a:latin typeface="Times New Roman" panose="02020603050405020304" pitchFamily="18" charset="0"/>
              <a:cs typeface="Times New Roman" panose="02020603050405020304" pitchFamily="18" charset="0"/>
            </a:endParaRPr>
          </a:p>
        </p:txBody>
      </p:sp>
      <p:pic>
        <p:nvPicPr>
          <p:cNvPr id="4" name="Content Placeholder 3" descr="Building Payment System Architecture: Comprehensive Guide | Devox Software">
            <a:extLst>
              <a:ext uri="{FF2B5EF4-FFF2-40B4-BE49-F238E27FC236}">
                <a16:creationId xmlns:a16="http://schemas.microsoft.com/office/drawing/2014/main" id="{CF787BD9-60A2-91D4-3C9A-910B29B5DAEA}"/>
              </a:ext>
            </a:extLst>
          </p:cNvPr>
          <p:cNvPicPr>
            <a:picLocks noGrp="1" noChangeAspect="1"/>
          </p:cNvPicPr>
          <p:nvPr>
            <p:ph idx="1"/>
          </p:nvPr>
        </p:nvPicPr>
        <p:blipFill>
          <a:blip r:embed="rId2"/>
          <a:srcRect/>
          <a:stretch>
            <a:fillRect/>
          </a:stretch>
        </p:blipFill>
        <p:spPr bwMode="auto">
          <a:xfrm>
            <a:off x="1106466" y="1606964"/>
            <a:ext cx="9979068" cy="4351338"/>
          </a:xfrm>
          <a:prstGeom prst="rect">
            <a:avLst/>
          </a:prstGeom>
          <a:noFill/>
          <a:ln w="9525">
            <a:noFill/>
            <a:miter lim="800000"/>
            <a:headEnd/>
            <a:tailEnd/>
          </a:ln>
        </p:spPr>
      </p:pic>
    </p:spTree>
    <p:extLst>
      <p:ext uri="{BB962C8B-B14F-4D97-AF65-F5344CB8AC3E}">
        <p14:creationId xmlns:p14="http://schemas.microsoft.com/office/powerpoint/2010/main" val="662074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C9F2-26B6-3FE9-6419-C5EF56E946E1}"/>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UML DIAGRAMS</a:t>
            </a:r>
            <a:endParaRPr lang="en-IN" sz="4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F0B97CB-AD96-ED2F-EAD3-A03A1E9B1D71}"/>
              </a:ext>
            </a:extLst>
          </p:cNvPr>
          <p:cNvSpPr>
            <a:spLocks noGrp="1"/>
          </p:cNvSpPr>
          <p:nvPr>
            <p:ph type="body" idx="1"/>
          </p:nvPr>
        </p:nvSpPr>
        <p:spPr/>
        <p:txBody>
          <a:bodyPr/>
          <a:lstStyle/>
          <a:p>
            <a:pPr algn="ctr"/>
            <a:r>
              <a:rPr lang="en-US" dirty="0">
                <a:latin typeface="Times New Roman" panose="02020603050405020304" pitchFamily="18" charset="0"/>
                <a:cs typeface="Times New Roman" panose="02020603050405020304" pitchFamily="18" charset="0"/>
              </a:rPr>
              <a:t>CLASS DIAGRAM</a:t>
            </a:r>
            <a:endParaRPr lang="en-IN"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9DFD1DE9-7156-77FF-EC6E-0F816A1B765B}"/>
              </a:ext>
            </a:extLst>
          </p:cNvPr>
          <p:cNvSpPr>
            <a:spLocks noGrp="1"/>
          </p:cNvSpPr>
          <p:nvPr>
            <p:ph type="body" sz="quarter" idx="3"/>
          </p:nvPr>
        </p:nvSpPr>
        <p:spPr/>
        <p:txBody>
          <a:bodyPr/>
          <a:lstStyle/>
          <a:p>
            <a:pPr algn="ctr"/>
            <a:r>
              <a:rPr lang="en-US" dirty="0">
                <a:latin typeface="Times New Roman" panose="02020603050405020304" pitchFamily="18" charset="0"/>
                <a:cs typeface="Times New Roman" panose="02020603050405020304" pitchFamily="18" charset="0"/>
              </a:rPr>
              <a:t>USECASE DIAGRAM</a:t>
            </a:r>
            <a:endParaRPr lang="en-IN" dirty="0">
              <a:latin typeface="Times New Roman" panose="02020603050405020304" pitchFamily="18" charset="0"/>
              <a:cs typeface="Times New Roman" panose="02020603050405020304" pitchFamily="18" charset="0"/>
            </a:endParaRPr>
          </a:p>
        </p:txBody>
      </p:sp>
      <p:pic>
        <p:nvPicPr>
          <p:cNvPr id="1027" name="Picture 3" descr="Class Diagram | Types &amp; Examples | Relationship and Advantages">
            <a:extLst>
              <a:ext uri="{FF2B5EF4-FFF2-40B4-BE49-F238E27FC236}">
                <a16:creationId xmlns:a16="http://schemas.microsoft.com/office/drawing/2014/main" id="{13DDA336-3D33-A2B7-768B-47FD52FBF27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39788" y="2940700"/>
            <a:ext cx="5157787" cy="2813338"/>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Use-Case Diagrams">
            <a:extLst>
              <a:ext uri="{FF2B5EF4-FFF2-40B4-BE49-F238E27FC236}">
                <a16:creationId xmlns:a16="http://schemas.microsoft.com/office/drawing/2014/main" id="{1809253E-B769-BC88-CD32-EE85DB86BB32}"/>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587857" y="2505075"/>
            <a:ext cx="3838291" cy="3249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22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8B18B-4C8A-FC8D-4E0E-C13A3CB6EBE3}"/>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UML DIAGRAMS</a:t>
            </a:r>
            <a:endParaRPr lang="en-IN" sz="4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861650B-A3AE-0523-64B4-AD915B4CFABE}"/>
              </a:ext>
            </a:extLst>
          </p:cNvPr>
          <p:cNvSpPr>
            <a:spLocks noGrp="1"/>
          </p:cNvSpPr>
          <p:nvPr>
            <p:ph type="body" idx="1"/>
          </p:nvPr>
        </p:nvSpPr>
        <p:spPr/>
        <p:txBody>
          <a:bodyPr/>
          <a:lstStyle/>
          <a:p>
            <a:pPr algn="ctr"/>
            <a:r>
              <a:rPr lang="en-US" dirty="0">
                <a:latin typeface="Times New Roman" panose="02020603050405020304" pitchFamily="18" charset="0"/>
                <a:cs typeface="Times New Roman" panose="02020603050405020304" pitchFamily="18" charset="0"/>
              </a:rPr>
              <a:t>SEQUENCE DIAGRAM</a:t>
            </a:r>
            <a:endParaRPr lang="en-IN"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23BBDD61-65F9-DF01-9E4B-267967CCF2D6}"/>
              </a:ext>
            </a:extLst>
          </p:cNvPr>
          <p:cNvSpPr>
            <a:spLocks noGrp="1"/>
          </p:cNvSpPr>
          <p:nvPr>
            <p:ph type="body" sz="quarter" idx="3"/>
          </p:nvPr>
        </p:nvSpPr>
        <p:spPr/>
        <p:txBody>
          <a:bodyPr/>
          <a:lstStyle/>
          <a:p>
            <a:pPr algn="ctr"/>
            <a:r>
              <a:rPr lang="en-US" dirty="0">
                <a:latin typeface="Times New Roman" panose="02020603050405020304" pitchFamily="18" charset="0"/>
                <a:cs typeface="Times New Roman" panose="02020603050405020304" pitchFamily="18" charset="0"/>
              </a:rPr>
              <a:t>COLLABORATION DIAGRAM</a:t>
            </a:r>
            <a:endParaRPr lang="en-IN" dirty="0">
              <a:latin typeface="Times New Roman" panose="02020603050405020304" pitchFamily="18" charset="0"/>
              <a:cs typeface="Times New Roman" panose="02020603050405020304" pitchFamily="18" charset="0"/>
            </a:endParaRPr>
          </a:p>
        </p:txBody>
      </p:sp>
      <p:pic>
        <p:nvPicPr>
          <p:cNvPr id="2050" name="Picture 2" descr="UML Sequence and State Diagrams">
            <a:extLst>
              <a:ext uri="{FF2B5EF4-FFF2-40B4-BE49-F238E27FC236}">
                <a16:creationId xmlns:a16="http://schemas.microsoft.com/office/drawing/2014/main" id="{5639E800-181B-8CCE-5E81-71129ABABA6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53919" y="2505075"/>
            <a:ext cx="5129524" cy="368458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ML Collaboration Diagram - Tpoint Tech">
            <a:extLst>
              <a:ext uri="{FF2B5EF4-FFF2-40B4-BE49-F238E27FC236}">
                <a16:creationId xmlns:a16="http://schemas.microsoft.com/office/drawing/2014/main" id="{E63BADF9-4E52-703C-1385-3D0BB3E20159}"/>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560093" y="2505075"/>
            <a:ext cx="4407401" cy="3684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847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476DC-1574-D893-A3C6-6DC96B12368B}"/>
              </a:ext>
            </a:extLst>
          </p:cNvPr>
          <p:cNvSpPr>
            <a:spLocks noGrp="1"/>
          </p:cNvSpPr>
          <p:nvPr>
            <p:ph type="title"/>
          </p:nvPr>
        </p:nvSpPr>
        <p:spPr/>
        <p:txBody>
          <a:bodyPr/>
          <a:lstStyle/>
          <a:p>
            <a:pPr algn="ctr"/>
            <a:r>
              <a:rPr lang="en-US" sz="4000" b="1" dirty="0">
                <a:latin typeface="Times New Roman" panose="02020603050405020304" pitchFamily="18" charset="0"/>
                <a:cs typeface="Times New Roman" panose="02020603050405020304" pitchFamily="18" charset="0"/>
              </a:rPr>
              <a:t>SYSTEM STUDY</a:t>
            </a:r>
            <a:r>
              <a:rPr lang="en-IN" dirty="0"/>
              <a:t/>
            </a:r>
            <a:br>
              <a:rPr lang="en-IN" dirty="0"/>
            </a:br>
            <a:endParaRPr lang="en-IN" dirty="0"/>
          </a:p>
        </p:txBody>
      </p:sp>
      <p:sp>
        <p:nvSpPr>
          <p:cNvPr id="3" name="Content Placeholder 2">
            <a:extLst>
              <a:ext uri="{FF2B5EF4-FFF2-40B4-BE49-F238E27FC236}">
                <a16:creationId xmlns:a16="http://schemas.microsoft.com/office/drawing/2014/main" id="{E76A1A44-0F3D-64A4-E41E-1532B59EF782}"/>
              </a:ext>
            </a:extLst>
          </p:cNvPr>
          <p:cNvSpPr>
            <a:spLocks noGrp="1"/>
          </p:cNvSpPr>
          <p:nvPr>
            <p:ph idx="1"/>
          </p:nvPr>
        </p:nvSpPr>
        <p:spPr>
          <a:xfrm>
            <a:off x="838200" y="1253330"/>
            <a:ext cx="10591800" cy="5147469"/>
          </a:xfrm>
        </p:spPr>
        <p:txBody>
          <a:bodyPr>
            <a:normAutofit fontScale="55000" lnSpcReduction="20000"/>
          </a:bodyPr>
          <a:lstStyle/>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Feasibility Study</a:t>
            </a:r>
          </a:p>
          <a:p>
            <a:pPr marL="0" indent="0">
              <a:buNone/>
            </a:pPr>
            <a:r>
              <a:rPr lang="en-US" b="1" dirty="0">
                <a:latin typeface="Times New Roman" panose="02020603050405020304" pitchFamily="18" charset="0"/>
                <a:cs typeface="Times New Roman" panose="02020603050405020304" pitchFamily="18" charset="0"/>
              </a:rPr>
              <a:t>    Overview</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Evaluates whether the proposed system is practical and beneficial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Ensures system is not a burden on the organization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Includes basic planning, cost estimation, and requirement analysis </a:t>
            </a:r>
          </a:p>
          <a:p>
            <a:pPr marL="0" indent="0">
              <a:buNone/>
            </a:pPr>
            <a:r>
              <a:rPr lang="en-US" b="1" dirty="0">
                <a:latin typeface="Times New Roman" panose="02020603050405020304" pitchFamily="18" charset="0"/>
                <a:cs typeface="Times New Roman" panose="02020603050405020304" pitchFamily="18" charset="0"/>
              </a:rPr>
              <a:t>    Types of Feasibility</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Economical Feasibility</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Checks cost and financial impact on organization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Ensures project stays within budget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Uses mostly free technologies to reduce cost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Technical Feasibility</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Analyzes technical requirements and resources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Ensures system works with existing infrastructure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Requires minimal changes for implementation </a:t>
            </a:r>
          </a:p>
          <a:p>
            <a:pPr marL="0" indent="0">
              <a:buNone/>
            </a:pPr>
            <a:r>
              <a:rPr lang="en-US" b="1" dirty="0">
                <a:latin typeface="Times New Roman" panose="02020603050405020304" pitchFamily="18" charset="0"/>
                <a:cs typeface="Times New Roman" panose="02020603050405020304" pitchFamily="18" charset="0"/>
              </a:rPr>
              <a:t>     Social Feasibility</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Measures user acceptance and usability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training and support to users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Builds confidence and encourages user feedback</a:t>
            </a:r>
          </a:p>
          <a:p>
            <a:endParaRPr lang="en-IN" dirty="0"/>
          </a:p>
        </p:txBody>
      </p:sp>
    </p:spTree>
    <p:extLst>
      <p:ext uri="{BB962C8B-B14F-4D97-AF65-F5344CB8AC3E}">
        <p14:creationId xmlns:p14="http://schemas.microsoft.com/office/powerpoint/2010/main" val="3410829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2F167-62C1-A877-72B7-8D60EBA52F08}"/>
              </a:ext>
            </a:extLst>
          </p:cNvPr>
          <p:cNvSpPr>
            <a:spLocks noGrp="1"/>
          </p:cNvSpPr>
          <p:nvPr>
            <p:ph type="title"/>
          </p:nvPr>
        </p:nvSpPr>
        <p:spPr>
          <a:xfrm>
            <a:off x="838201" y="365125"/>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TESTING</a:t>
            </a:r>
            <a:r>
              <a:rPr lang="en-US" sz="4000" dirty="0">
                <a:latin typeface="Times New Roman" panose="02020603050405020304" pitchFamily="18" charset="0"/>
                <a:cs typeface="Times New Roman" panose="02020603050405020304" pitchFamily="18" charset="0"/>
              </a:rPr>
              <a:t> </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12BB19F-07BE-A188-B15C-0B6AF1BC6B89}"/>
              </a:ext>
            </a:extLst>
          </p:cNvPr>
          <p:cNvSpPr>
            <a:spLocks noGrp="1"/>
          </p:cNvSpPr>
          <p:nvPr>
            <p:ph idx="1"/>
          </p:nvPr>
        </p:nvSpPr>
        <p:spPr>
          <a:xfrm>
            <a:off x="838199" y="1437999"/>
            <a:ext cx="10621617" cy="5054876"/>
          </a:xfrm>
        </p:spPr>
        <p:txBody>
          <a:bodyPr>
            <a:normAutofit fontScale="92500" lnSpcReduction="20000"/>
          </a:bodyPr>
          <a:lstStyle/>
          <a:p>
            <a:pPr marL="0" indent="0" algn="ctr">
              <a:buNone/>
            </a:pPr>
            <a:r>
              <a:rPr lang="en-IN" b="1" dirty="0">
                <a:latin typeface="Times New Roman" panose="02020603050405020304" pitchFamily="18" charset="0"/>
                <a:cs typeface="Times New Roman" panose="02020603050405020304" pitchFamily="18" charset="0"/>
              </a:rPr>
              <a:t> System Testing Overview</a:t>
            </a:r>
          </a:p>
          <a:p>
            <a:pPr marL="0" indent="0">
              <a:buNone/>
            </a:pPr>
            <a:r>
              <a:rPr lang="en-US" b="1" dirty="0">
                <a:latin typeface="Times New Roman" panose="02020603050405020304" pitchFamily="18" charset="0"/>
                <a:cs typeface="Times New Roman" panose="02020603050405020304" pitchFamily="18" charset="0"/>
              </a:rPr>
              <a:t>  Purpose of Testing</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Identifies errors and weaknesses in the system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Ensures software meets requirements and user expectations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Validates functionality of components and overall system </a:t>
            </a:r>
          </a:p>
          <a:p>
            <a:pPr marL="0" indent="0">
              <a:buNone/>
            </a:pPr>
            <a:r>
              <a:rPr lang="en-US" b="1" dirty="0">
                <a:latin typeface="Times New Roman" panose="02020603050405020304" pitchFamily="18" charset="0"/>
                <a:cs typeface="Times New Roman" panose="02020603050405020304" pitchFamily="18" charset="0"/>
              </a:rPr>
              <a:t> Types of Testing</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Unit Testing – Tests individual components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Integration Testing – Tests combined modules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Functional Testing – Checks system functions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System Testing – Validates complete system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White Box Testing – Tests internal logic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Black Box Testing – Tests without internal knowledge </a:t>
            </a:r>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34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F3D3-3D68-684C-AB28-04584AF4FA99}"/>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TESTING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A84471-C110-FE3B-9340-1C4392420A82}"/>
              </a:ext>
            </a:extLst>
          </p:cNvPr>
          <p:cNvSpPr>
            <a:spLocks noGrp="1"/>
          </p:cNvSpPr>
          <p:nvPr>
            <p:ph idx="1"/>
          </p:nvPr>
        </p:nvSpPr>
        <p:spPr>
          <a:xfrm>
            <a:off x="838200" y="1527451"/>
            <a:ext cx="10515600" cy="4744140"/>
          </a:xfrm>
        </p:spPr>
        <p:txBody>
          <a:bodyPr>
            <a:normAutofit fontScale="62500" lnSpcReduction="20000"/>
          </a:bodyPr>
          <a:lstStyle/>
          <a:p>
            <a:pPr marL="0" indent="0" algn="ctr">
              <a:buNone/>
            </a:pPr>
            <a:r>
              <a:rPr lang="en-IN" b="1" dirty="0">
                <a:latin typeface="Times New Roman" panose="02020603050405020304" pitchFamily="18" charset="0"/>
                <a:cs typeface="Times New Roman" panose="02020603050405020304" pitchFamily="18" charset="0"/>
              </a:rPr>
              <a:t>Testing Strategy &amp; Results</a:t>
            </a:r>
          </a:p>
          <a:p>
            <a:pPr marL="0" indent="0">
              <a:buNone/>
            </a:pPr>
            <a:r>
              <a:rPr lang="en-US" b="1" dirty="0">
                <a:latin typeface="Times New Roman" panose="02020603050405020304" pitchFamily="18" charset="0"/>
                <a:cs typeface="Times New Roman" panose="02020603050405020304" pitchFamily="18" charset="0"/>
              </a:rPr>
              <a:t>Test Strategy &amp; Objectives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Manual field testing and detailed functional tests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 </a:t>
            </a:r>
          </a:p>
          <a:p>
            <a:pPr lvl="1">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All inputs work correctly </a:t>
            </a:r>
          </a:p>
          <a:p>
            <a:pPr lvl="1">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Pages load properly </a:t>
            </a:r>
          </a:p>
          <a:p>
            <a:pPr lvl="1">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No delay in response </a:t>
            </a:r>
          </a:p>
          <a:p>
            <a:pPr marL="0" indent="0">
              <a:buNone/>
            </a:pPr>
            <a:r>
              <a:rPr lang="en-US" b="1" dirty="0">
                <a:latin typeface="Times New Roman" panose="02020603050405020304" pitchFamily="18" charset="0"/>
                <a:cs typeface="Times New Roman" panose="02020603050405020304" pitchFamily="18" charset="0"/>
              </a:rPr>
              <a:t>Features Tested</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Correct data format validation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duplicate entries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Proper navigation of all links </a:t>
            </a:r>
          </a:p>
          <a:p>
            <a:pPr marL="0" indent="0">
              <a:buNone/>
            </a:pPr>
            <a:r>
              <a:rPr lang="en-US" b="1" dirty="0">
                <a:latin typeface="Times New Roman" panose="02020603050405020304" pitchFamily="18" charset="0"/>
                <a:cs typeface="Times New Roman" panose="02020603050405020304" pitchFamily="18" charset="0"/>
              </a:rPr>
              <a:t>Results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Integration Testing: No errors found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Acceptance Testing: Passed successfully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System meets all functional requirements </a:t>
            </a:r>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318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C89B-85A5-A389-A1BD-DC5005F46FB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D46D92-CC55-77FD-CA11-526649230472}"/>
              </a:ext>
            </a:extLst>
          </p:cNvPr>
          <p:cNvSpPr>
            <a:spLocks noGrp="1"/>
          </p:cNvSpPr>
          <p:nvPr>
            <p:ph idx="1"/>
          </p:nvPr>
        </p:nvSpPr>
        <p:spPr>
          <a:xfrm>
            <a:off x="838200" y="1537390"/>
            <a:ext cx="10515600" cy="4351338"/>
          </a:xfrm>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Online Multiple Payment System (OMPS)</a:t>
            </a:r>
            <a:r>
              <a:rPr lang="en-US" dirty="0">
                <a:latin typeface="Times New Roman" panose="02020603050405020304" pitchFamily="18" charset="0"/>
                <a:cs typeface="Times New Roman" panose="02020603050405020304" pitchFamily="18" charset="0"/>
              </a:rPr>
              <a:t> is a modern solution that improves the way digital payments are made. It combines different payment methods like cards, mobile wallets, net banking, and cryptocurrency into one platform, making transactions more convenient for users and businesses.</a:t>
            </a:r>
          </a:p>
          <a:p>
            <a:pPr algn="just"/>
            <a:r>
              <a:rPr lang="en-US" dirty="0">
                <a:latin typeface="Times New Roman" panose="02020603050405020304" pitchFamily="18" charset="0"/>
                <a:cs typeface="Times New Roman" panose="02020603050405020304" pitchFamily="18" charset="0"/>
              </a:rPr>
              <a:t>The system also focuses on security by using technologies like encryption, multi-factor authentication, and fraud detection to protect user data. In addition, it supports faster transactions and reduces costs, which is very useful in today’s global digital market.</a:t>
            </a:r>
          </a:p>
          <a:p>
            <a:pPr algn="just"/>
            <a:r>
              <a:rPr lang="en-US" dirty="0">
                <a:latin typeface="Times New Roman" panose="02020603050405020304" pitchFamily="18" charset="0"/>
                <a:cs typeface="Times New Roman" panose="02020603050405020304" pitchFamily="18" charset="0"/>
              </a:rPr>
              <a:t>Although there are some challenges such as system complexity, regulatory issues, and user adaptation, the advantages are much greater. OMPS provides better user experience, scalability, and the ability to adapt to future technologies.</a:t>
            </a:r>
          </a:p>
          <a:p>
            <a:pPr algn="just"/>
            <a:r>
              <a:rPr lang="en-US" dirty="0">
                <a:latin typeface="Times New Roman" panose="02020603050405020304" pitchFamily="18" charset="0"/>
                <a:cs typeface="Times New Roman" panose="02020603050405020304" pitchFamily="18" charset="0"/>
              </a:rPr>
              <a:t>Overall, OMPS is a reliable and future-ready system that has the potential to transform digital payment systems.</a:t>
            </a:r>
          </a:p>
          <a:p>
            <a:pPr marL="0" indent="0">
              <a:buNone/>
            </a:pPr>
            <a:endParaRPr lang="en-IN" dirty="0"/>
          </a:p>
        </p:txBody>
      </p:sp>
    </p:spTree>
    <p:extLst>
      <p:ext uri="{BB962C8B-B14F-4D97-AF65-F5344CB8AC3E}">
        <p14:creationId xmlns:p14="http://schemas.microsoft.com/office/powerpoint/2010/main" val="2308952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1288</TotalTime>
  <Words>1022</Words>
  <Application>Microsoft Office PowerPoint</Application>
  <PresentationFormat>Widescreen</PresentationFormat>
  <Paragraphs>110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Times New Roman</vt:lpstr>
      <vt:lpstr>Wingdings</vt:lpstr>
      <vt:lpstr>Office Theme</vt:lpstr>
      <vt:lpstr>ONLINE MULTIPLE PAYMENT SYSTEM</vt:lpstr>
      <vt:lpstr>ABSTRACT</vt:lpstr>
      <vt:lpstr>INTRODUCTION</vt:lpstr>
      <vt:lpstr>EXISTING SYSTEM</vt:lpstr>
      <vt:lpstr>PROPOSED SYSTEM</vt:lpstr>
      <vt:lpstr>SYSTEM REQUIREMENTS</vt:lpstr>
      <vt:lpstr>SYSTEM ARCHITECTURE</vt:lpstr>
      <vt:lpstr>UML DIAGRAMS</vt:lpstr>
      <vt:lpstr>UML DIAGRAMS</vt:lpstr>
      <vt:lpstr>SYSTEM STUDY </vt:lpstr>
      <vt:lpstr>TESTING </vt:lpstr>
      <vt:lpstr>TESTING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MULTIPLE PAYMENT SYSTEM</dc:title>
  <dc:creator>Harsha vardhan</dc:creator>
  <cp:lastModifiedBy>DELL LATITUDE E5540</cp:lastModifiedBy>
  <cp:revision>5</cp:revision>
  <cp:lastPrinted>2026-03-28T09:09:16Z</cp:lastPrinted>
  <dcterms:created xsi:type="dcterms:W3CDTF">2026-03-28T07:45:42Z</dcterms:created>
  <dcterms:modified xsi:type="dcterms:W3CDTF">2026-06-18T08:19:34Z</dcterms:modified>
</cp:coreProperties>
</file>